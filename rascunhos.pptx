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4BD714F1-4E16-4D08-9395-FA10688F3C32}">
          <p14:sldIdLst>
            <p14:sldId id="256"/>
            <p14:sldId id="2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C56BF4-7A08-E3B2-16E2-8B8E72D4E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678535B-B339-145D-C571-15165C693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08A50C-D301-4C1C-5795-0A769BC9C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97640-9931-45A0-A49A-7AC2263820BE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C99CC3-9720-1E4E-13C1-5AF8BB246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237063-177D-91BC-1641-DC27C998F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4EDA7-C373-4153-B722-7D33834E16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070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362E32-0A70-E98B-C032-154316431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51FC28-3077-CD39-2436-B43287540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2FD0D1-1E2C-CDB8-C3CF-4CC415C65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97640-9931-45A0-A49A-7AC2263820BE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194213-5A3D-C6BD-6086-6109C9CE5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559011-574E-C38B-3A55-4CDBD5061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4EDA7-C373-4153-B722-7D33834E16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6753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D9EAC6-0B51-5CEC-0114-CA2341A3F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7EAD929-6327-7456-832E-F3F25B193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5D8044-43D3-07F8-770C-D9A20AB6D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97640-9931-45A0-A49A-7AC2263820BE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398FF2-AEF9-7E37-45FC-AAE3BA0CB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3B0C6C-B865-3716-9C27-108BE02E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4EDA7-C373-4153-B722-7D33834E16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6246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81C490-A4AA-0ADC-CB8B-63EF07B59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3172908-D7F8-D628-E1C1-EB020A240B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E1C7F07-16D6-539B-2B4A-6D51E6245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5A42CF-5160-9083-80E7-31BEFD6C6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97640-9931-45A0-A49A-7AC2263820BE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711F57-6B5C-D5B1-6BE4-05656A5D7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2F2AFD-54C8-5D41-63C0-3327D4304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4EDA7-C373-4153-B722-7D33834E16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629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C7567F-8FD9-D3EE-3363-02C7809D2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1D37B58-C1A0-EF74-EABF-89B183FBA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05A510-6073-EA22-8143-C0227A263F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D90CEBF-78E3-0FE4-F88C-83D3D5D279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68089E4-67DB-38DF-2579-8F0C518F2B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3EEB02-0823-EB2B-E57B-8C306E841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97640-9931-45A0-A49A-7AC2263820BE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A152569-6FD8-F78C-A534-9322F8743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4F1C903-2B9A-3E06-EF0C-E514F123C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4EDA7-C373-4153-B722-7D33834E16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6631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A5FD57-3EB4-41C4-FE84-FC2497BD0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26841D3-0421-407C-87E1-50A7D1942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97640-9931-45A0-A49A-7AC2263820BE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02EBFD2-6760-E392-A066-47ACA6AF5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A9B4EA1-C958-7420-7361-87D96BEF6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4EDA7-C373-4153-B722-7D33834E16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8240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712D741-09B0-D703-271A-1DDC0DB63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97640-9931-45A0-A49A-7AC2263820BE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25F5351-865D-C110-E414-4E9984E7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E169D1-CED3-A176-687F-B9A0326F6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4EDA7-C373-4153-B722-7D33834E16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455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48F27C-3434-BBA1-DB23-9A4B6EA5E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D77A12-D2DC-18BF-9C36-A0580B586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2BC911D-F140-8C47-873D-D71402EF9C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01B0DE8-31BE-10F4-F92C-9F1575D79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97640-9931-45A0-A49A-7AC2263820BE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2809A01-CEA1-D968-51B6-CBC338820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7643F3-21B5-D298-8382-E16C9C6B6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4EDA7-C373-4153-B722-7D33834E16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92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3309FA-1FCD-1443-9C11-F62F658AB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3DC049B-04D2-A9FE-9390-EB5EEFA20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40E905-6956-40D3-5B19-6EA7ADB38D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E1315F-5683-53F5-2087-F376068A8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97640-9931-45A0-A49A-7AC2263820BE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05E44BA-1285-9202-EB01-7FED35C0A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9DA7F8-7756-D97C-366D-3A3773D6E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4EDA7-C373-4153-B722-7D33834E16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07464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852DCD-CCFD-AFFE-810E-365825817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9F68606-FF85-55A2-4170-F954DEDCF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1E63C9-4100-AF40-F53E-C05A0AEE0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97640-9931-45A0-A49A-7AC2263820BE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A320F9-5B49-7B52-2125-304A67DD6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868093-9641-F94E-FFEC-977A5F99E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4EDA7-C373-4153-B722-7D33834E16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5878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E9BC63D-D745-CC92-8B52-CC5D128C0A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582134C-B12B-609B-0149-D091090E69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7C0D6E-0A97-98A0-D5DD-B05FB6B2F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97640-9931-45A0-A49A-7AC2263820BE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5FE601-4E4D-153F-B250-7E58D0757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35ED1B-B3BA-C9D6-0490-488F5DA45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74EDA7-C373-4153-B722-7D33834E16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2202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9D7A4C3-37F2-7EB5-8002-98E68561C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56CEFE-570D-B9EE-BC83-C511E782A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698145-034E-C717-DD48-07D08CED5E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197640-9931-45A0-A49A-7AC2263820BE}" type="datetimeFigureOut">
              <a:rPr lang="pt-BR" smtClean="0"/>
              <a:t>15/03/2026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A73141-328D-1884-110D-8F9D26B6F1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09AD8B-C0D8-E2CB-0C21-DD515CC108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74EDA7-C373-4153-B722-7D33834E16C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5709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221F402E-2185-D1BB-61CE-A472431AA4CD}"/>
              </a:ext>
            </a:extLst>
          </p:cNvPr>
          <p:cNvSpPr/>
          <p:nvPr/>
        </p:nvSpPr>
        <p:spPr>
          <a:xfrm>
            <a:off x="4269919" y="979714"/>
            <a:ext cx="7443110" cy="41583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37290D68-3B79-F8E0-1B8E-3F7F467DDBBD}"/>
              </a:ext>
            </a:extLst>
          </p:cNvPr>
          <p:cNvSpPr/>
          <p:nvPr/>
        </p:nvSpPr>
        <p:spPr>
          <a:xfrm>
            <a:off x="718457" y="979714"/>
            <a:ext cx="3112228" cy="41583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73EA433-2D31-918F-B763-45508B19BA9D}"/>
              </a:ext>
            </a:extLst>
          </p:cNvPr>
          <p:cNvSpPr/>
          <p:nvPr/>
        </p:nvSpPr>
        <p:spPr>
          <a:xfrm>
            <a:off x="1238796" y="1796142"/>
            <a:ext cx="1939833" cy="1023257"/>
          </a:xfrm>
          <a:prstGeom prst="roundRect">
            <a:avLst>
              <a:gd name="adj" fmla="val 57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Pergunta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4FC2A8B-54FD-3036-90D5-A41BCE2C8DED}"/>
              </a:ext>
            </a:extLst>
          </p:cNvPr>
          <p:cNvSpPr/>
          <p:nvPr/>
        </p:nvSpPr>
        <p:spPr>
          <a:xfrm>
            <a:off x="4711339" y="1796141"/>
            <a:ext cx="2647404" cy="1023257"/>
          </a:xfrm>
          <a:prstGeom prst="roundRect">
            <a:avLst>
              <a:gd name="adj" fmla="val 57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Modelo interpreta a pergunta e decide o documento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8CB4D094-DD5D-5905-94C9-C7E7B5F277AD}"/>
              </a:ext>
            </a:extLst>
          </p:cNvPr>
          <p:cNvSpPr/>
          <p:nvPr/>
        </p:nvSpPr>
        <p:spPr>
          <a:xfrm>
            <a:off x="9218026" y="1796141"/>
            <a:ext cx="2005146" cy="1023257"/>
          </a:xfrm>
          <a:prstGeom prst="roundRect">
            <a:avLst>
              <a:gd name="adj" fmla="val 57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RAG – busca o protocolo</a:t>
            </a: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AB6754D-6D1C-4312-1AC7-1F1FC1964796}"/>
              </a:ext>
            </a:extLst>
          </p:cNvPr>
          <p:cNvSpPr/>
          <p:nvPr/>
        </p:nvSpPr>
        <p:spPr>
          <a:xfrm>
            <a:off x="6356170" y="3614056"/>
            <a:ext cx="2005146" cy="1023257"/>
          </a:xfrm>
          <a:prstGeom prst="roundRect">
            <a:avLst>
              <a:gd name="adj" fmla="val 57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Modelo fine-</a:t>
            </a:r>
            <a:r>
              <a:rPr lang="pt-BR" dirty="0" err="1"/>
              <a:t>tuned</a:t>
            </a:r>
            <a:r>
              <a:rPr lang="pt-BR" dirty="0"/>
              <a:t> constrói a resposta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B2182D95-C149-E64C-7253-B2F570D11548}"/>
              </a:ext>
            </a:extLst>
          </p:cNvPr>
          <p:cNvCxnSpPr>
            <a:stCxn id="5" idx="3"/>
            <a:endCxn id="6" idx="1"/>
          </p:cNvCxnSpPr>
          <p:nvPr/>
        </p:nvCxnSpPr>
        <p:spPr>
          <a:xfrm flipV="1">
            <a:off x="3178629" y="2307770"/>
            <a:ext cx="1532710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6181FF6B-2E30-BD3C-DB5D-5A504B5087EF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7358743" y="2307770"/>
            <a:ext cx="1859283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5D58E59D-EEB3-D7F6-80DA-94F0BDF0D5BA}"/>
              </a:ext>
            </a:extLst>
          </p:cNvPr>
          <p:cNvCxnSpPr>
            <a:cxnSpLocks/>
            <a:stCxn id="7" idx="2"/>
            <a:endCxn id="8" idx="3"/>
          </p:cNvCxnSpPr>
          <p:nvPr/>
        </p:nvCxnSpPr>
        <p:spPr>
          <a:xfrm flipH="1">
            <a:off x="8361316" y="2819398"/>
            <a:ext cx="1859283" cy="130628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9BE68CC3-F640-93BC-E5BD-8D838A939EE0}"/>
              </a:ext>
            </a:extLst>
          </p:cNvPr>
          <p:cNvCxnSpPr>
            <a:cxnSpLocks/>
            <a:stCxn id="8" idx="1"/>
            <a:endCxn id="20" idx="3"/>
          </p:cNvCxnSpPr>
          <p:nvPr/>
        </p:nvCxnSpPr>
        <p:spPr>
          <a:xfrm flipH="1">
            <a:off x="3178629" y="4125685"/>
            <a:ext cx="3177541" cy="1088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CBCC0432-E82F-BA5B-486B-9CB25A5AB7AD}"/>
              </a:ext>
            </a:extLst>
          </p:cNvPr>
          <p:cNvSpPr/>
          <p:nvPr/>
        </p:nvSpPr>
        <p:spPr>
          <a:xfrm>
            <a:off x="1238796" y="3624941"/>
            <a:ext cx="1939833" cy="1023257"/>
          </a:xfrm>
          <a:prstGeom prst="roundRect">
            <a:avLst>
              <a:gd name="adj" fmla="val 571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Resposta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F0D73F9-37DB-E06C-2140-30001D0EDA62}"/>
              </a:ext>
            </a:extLst>
          </p:cNvPr>
          <p:cNvSpPr txBox="1"/>
          <p:nvPr/>
        </p:nvSpPr>
        <p:spPr>
          <a:xfrm>
            <a:off x="1706395" y="1121617"/>
            <a:ext cx="1004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/>
              <a:t>Usuário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20606B2-84B9-4E4E-D6E1-F899C243740C}"/>
              </a:ext>
            </a:extLst>
          </p:cNvPr>
          <p:cNvSpPr txBox="1"/>
          <p:nvPr/>
        </p:nvSpPr>
        <p:spPr>
          <a:xfrm>
            <a:off x="7359155" y="1121617"/>
            <a:ext cx="1264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b="1" dirty="0" err="1"/>
              <a:t>Langchain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209725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C24E70C7-2BB6-B39A-F212-18CF725956AE}"/>
              </a:ext>
            </a:extLst>
          </p:cNvPr>
          <p:cNvSpPr/>
          <p:nvPr/>
        </p:nvSpPr>
        <p:spPr>
          <a:xfrm>
            <a:off x="618310" y="1175657"/>
            <a:ext cx="2745375" cy="3516086"/>
          </a:xfrm>
          <a:prstGeom prst="roundRect">
            <a:avLst>
              <a:gd name="adj" fmla="val 3735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2000" b="1" dirty="0">
                <a:solidFill>
                  <a:schemeClr val="tx1"/>
                </a:solidFill>
              </a:rPr>
              <a:t>Usuário</a:t>
            </a:r>
          </a:p>
        </p:txBody>
      </p: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AACDD4F1-96F3-99E1-9C14-E451854B7580}"/>
              </a:ext>
            </a:extLst>
          </p:cNvPr>
          <p:cNvSpPr/>
          <p:nvPr/>
        </p:nvSpPr>
        <p:spPr>
          <a:xfrm>
            <a:off x="1067344" y="2002972"/>
            <a:ext cx="1847305" cy="849085"/>
          </a:xfrm>
          <a:prstGeom prst="roundRect">
            <a:avLst>
              <a:gd name="adj" fmla="val 57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Faz a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pergunta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264CB1C-62C8-4C82-629B-1510BB92535C}"/>
              </a:ext>
            </a:extLst>
          </p:cNvPr>
          <p:cNvSpPr/>
          <p:nvPr/>
        </p:nvSpPr>
        <p:spPr>
          <a:xfrm>
            <a:off x="3799112" y="1175657"/>
            <a:ext cx="5845631" cy="3516086"/>
          </a:xfrm>
          <a:prstGeom prst="roundRect">
            <a:avLst>
              <a:gd name="adj" fmla="val 2770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2000" b="1" dirty="0">
                <a:solidFill>
                  <a:schemeClr val="tx1"/>
                </a:solidFill>
              </a:rPr>
              <a:t>Assistente Médico - IA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9B1D735-9822-59CA-1643-5A7E648C2AC9}"/>
              </a:ext>
            </a:extLst>
          </p:cNvPr>
          <p:cNvSpPr/>
          <p:nvPr/>
        </p:nvSpPr>
        <p:spPr>
          <a:xfrm>
            <a:off x="4248696" y="2002971"/>
            <a:ext cx="2184762" cy="849086"/>
          </a:xfrm>
          <a:prstGeom prst="roundRect">
            <a:avLst>
              <a:gd name="adj" fmla="val 57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err="1">
                <a:solidFill>
                  <a:schemeClr val="tx1"/>
                </a:solidFill>
              </a:rPr>
              <a:t>LangChain</a:t>
            </a:r>
            <a:r>
              <a:rPr lang="pt-BR" sz="1600" b="1" dirty="0">
                <a:solidFill>
                  <a:schemeClr val="tx1"/>
                </a:solidFill>
              </a:rPr>
              <a:t> </a:t>
            </a:r>
            <a:r>
              <a:rPr lang="pt-BR" sz="1600" b="1" dirty="0" err="1">
                <a:solidFill>
                  <a:schemeClr val="tx1"/>
                </a:solidFill>
              </a:rPr>
              <a:t>Router</a:t>
            </a:r>
            <a:endParaRPr lang="pt-BR" sz="1600" b="1" dirty="0">
              <a:solidFill>
                <a:schemeClr val="tx1"/>
              </a:solidFill>
            </a:endParaRPr>
          </a:p>
          <a:p>
            <a:pPr algn="ctr"/>
            <a:r>
              <a:rPr lang="pt-BR" sz="1200" dirty="0">
                <a:solidFill>
                  <a:schemeClr val="tx1"/>
                </a:solidFill>
              </a:rPr>
              <a:t>(classifica o tipo de câncer)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45DD0188-A241-7859-940F-B8F6734578B9}"/>
              </a:ext>
            </a:extLst>
          </p:cNvPr>
          <p:cNvSpPr/>
          <p:nvPr/>
        </p:nvSpPr>
        <p:spPr>
          <a:xfrm>
            <a:off x="7075443" y="2002971"/>
            <a:ext cx="2184762" cy="849086"/>
          </a:xfrm>
          <a:prstGeom prst="roundRect">
            <a:avLst>
              <a:gd name="adj" fmla="val 57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 err="1">
                <a:solidFill>
                  <a:schemeClr val="tx1"/>
                </a:solidFill>
              </a:rPr>
              <a:t>Retriever</a:t>
            </a:r>
            <a:r>
              <a:rPr lang="pt-BR" sz="1600" b="1" dirty="0">
                <a:solidFill>
                  <a:schemeClr val="tx1"/>
                </a:solidFill>
              </a:rPr>
              <a:t> (RAG)</a:t>
            </a:r>
          </a:p>
          <a:p>
            <a:pPr algn="ctr"/>
            <a:r>
              <a:rPr lang="pt-BR" sz="1200" dirty="0">
                <a:solidFill>
                  <a:schemeClr val="tx1"/>
                </a:solidFill>
              </a:rPr>
              <a:t>(busca o protocolo clínico)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5CE4E19B-DA65-55D8-2850-5927B22DAA16}"/>
              </a:ext>
            </a:extLst>
          </p:cNvPr>
          <p:cNvSpPr/>
          <p:nvPr/>
        </p:nvSpPr>
        <p:spPr>
          <a:xfrm>
            <a:off x="7075442" y="3254828"/>
            <a:ext cx="2184761" cy="849086"/>
          </a:xfrm>
          <a:prstGeom prst="roundRect">
            <a:avLst>
              <a:gd name="adj" fmla="val 57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tx1"/>
                </a:solidFill>
              </a:rPr>
              <a:t>Contexto do protocolo</a:t>
            </a:r>
            <a:endParaRPr lang="pt-BR" sz="1200" dirty="0">
              <a:solidFill>
                <a:schemeClr val="tx1"/>
              </a:solidFill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163D068-3E59-C02C-7492-8489793323C3}"/>
              </a:ext>
            </a:extLst>
          </p:cNvPr>
          <p:cNvSpPr/>
          <p:nvPr/>
        </p:nvSpPr>
        <p:spPr>
          <a:xfrm>
            <a:off x="4243253" y="3254828"/>
            <a:ext cx="2184762" cy="849086"/>
          </a:xfrm>
          <a:prstGeom prst="roundRect">
            <a:avLst>
              <a:gd name="adj" fmla="val 57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tx1"/>
                </a:solidFill>
              </a:rPr>
              <a:t>LLM Fine-</a:t>
            </a:r>
            <a:r>
              <a:rPr lang="pt-BR" sz="1600" b="1" dirty="0" err="1">
                <a:solidFill>
                  <a:schemeClr val="tx1"/>
                </a:solidFill>
              </a:rPr>
              <a:t>Tuned</a:t>
            </a:r>
            <a:endParaRPr lang="pt-BR" sz="1600" b="1" dirty="0">
              <a:solidFill>
                <a:schemeClr val="tx1"/>
              </a:solidFill>
            </a:endParaRPr>
          </a:p>
          <a:p>
            <a:pPr algn="ctr"/>
            <a:r>
              <a:rPr lang="pt-BR" sz="1200" dirty="0">
                <a:solidFill>
                  <a:schemeClr val="tx1"/>
                </a:solidFill>
              </a:rPr>
              <a:t>(gera resposta médica)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36D9ADB5-0693-587D-8ECA-FA94BDD71EAB}"/>
              </a:ext>
            </a:extLst>
          </p:cNvPr>
          <p:cNvSpPr/>
          <p:nvPr/>
        </p:nvSpPr>
        <p:spPr>
          <a:xfrm>
            <a:off x="1067343" y="3254828"/>
            <a:ext cx="1847305" cy="849085"/>
          </a:xfrm>
          <a:prstGeom prst="roundRect">
            <a:avLst>
              <a:gd name="adj" fmla="val 5718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solidFill>
                  <a:schemeClr val="tx1"/>
                </a:solidFill>
              </a:rPr>
              <a:t>Recebe a</a:t>
            </a:r>
          </a:p>
          <a:p>
            <a:pPr algn="ctr"/>
            <a:r>
              <a:rPr lang="pt-BR" b="1" dirty="0">
                <a:solidFill>
                  <a:schemeClr val="tx1"/>
                </a:solidFill>
              </a:rPr>
              <a:t>resposta</a:t>
            </a:r>
          </a:p>
        </p:txBody>
      </p: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id="{478D05CB-0D04-9AB6-CF10-17EBE642D8A5}"/>
              </a:ext>
            </a:extLst>
          </p:cNvPr>
          <p:cNvCxnSpPr>
            <a:cxnSpLocks/>
            <a:stCxn id="9" idx="1"/>
            <a:endCxn id="10" idx="3"/>
          </p:cNvCxnSpPr>
          <p:nvPr/>
        </p:nvCxnSpPr>
        <p:spPr>
          <a:xfrm flipH="1">
            <a:off x="2914648" y="3679371"/>
            <a:ext cx="1328605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id="{989D76ED-93C6-3C96-5495-B36DC217A811}"/>
              </a:ext>
            </a:extLst>
          </p:cNvPr>
          <p:cNvCxnSpPr>
            <a:cxnSpLocks/>
            <a:stCxn id="3" idx="3"/>
            <a:endCxn id="5" idx="1"/>
          </p:cNvCxnSpPr>
          <p:nvPr/>
        </p:nvCxnSpPr>
        <p:spPr>
          <a:xfrm flipV="1">
            <a:off x="2914649" y="2427514"/>
            <a:ext cx="1334047" cy="1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563C3453-BAD8-3601-30CD-9FE364909201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6433458" y="2427514"/>
            <a:ext cx="641985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5CDD7ED4-D164-0FD2-AA5A-696E1E91E16A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8167823" y="2852057"/>
            <a:ext cx="1" cy="402771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CFD35FC2-A84F-5415-170A-1A54185CE9D8}"/>
              </a:ext>
            </a:extLst>
          </p:cNvPr>
          <p:cNvCxnSpPr>
            <a:cxnSpLocks/>
            <a:stCxn id="7" idx="1"/>
            <a:endCxn id="9" idx="3"/>
          </p:cNvCxnSpPr>
          <p:nvPr/>
        </p:nvCxnSpPr>
        <p:spPr>
          <a:xfrm flipH="1">
            <a:off x="6428015" y="3679371"/>
            <a:ext cx="647427" cy="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18764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62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Allan Kássio de Oliveira Santos Ribeiro</dc:creator>
  <cp:lastModifiedBy>Allan Kássio de Oliveira Santos Ribeiro</cp:lastModifiedBy>
  <cp:revision>1</cp:revision>
  <dcterms:created xsi:type="dcterms:W3CDTF">2026-03-15T20:53:57Z</dcterms:created>
  <dcterms:modified xsi:type="dcterms:W3CDTF">2026-03-16T02:10:36Z</dcterms:modified>
</cp:coreProperties>
</file>