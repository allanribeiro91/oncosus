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45B"/>
    <a:srgbClr val="FFFFFF"/>
    <a:srgbClr val="FCDCE7"/>
    <a:srgbClr val="08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1BB5B-7496-47A3-8C02-64C282609F80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66792-6ED2-4A96-96B5-264DAA10D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675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6792-6ED2-4A96-96B5-264DAA10DCB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6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5E3D7-BF4E-B121-702D-F1EB543F6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97AF03-5566-9B1B-ACB0-D37F89095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609A00-59DB-7401-CAA2-49DECF78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9F17EA-00C4-C866-E25C-6C2FC2F3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017A36-C956-F536-38C2-59C00919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838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5F526-E658-754E-CCB9-F0C9A9040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A1F459-0161-25B6-5BBF-969D673BC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5A6D71-C3F4-4E90-B6D7-9ECC5026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94C990-EB24-B0D9-0029-B36CF31CF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9ADED6-5D6E-0E47-59F1-EF88AC220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372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2CDBC-2947-D34A-3CB3-F9B2A4141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47FE3D-7E2F-DFD2-AFD9-8E1115AD2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5EE485-59C3-33E7-12F4-2D667D701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92DE63-4CBE-F2EA-0CFF-934AF93E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A6AC46-C5C2-1B85-E58C-A4342673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270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E0B00-DA8E-7CBF-EB87-3792F242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DBA91B-86C9-1D53-CFE9-38FBDAFBB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B95799-940D-68C6-D1FA-C2FE34A71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D71C20-0953-9685-3924-514E6267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AE97FE-DF4D-4473-179C-47BDD59C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FC67F9-4A75-B608-9F2E-A7877EB7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929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E2B40-7651-FA4A-FAD9-22CB78D2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8F2ED4-012A-4C70-4249-7E434D10A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2FFEBE-9D10-53F9-EE08-915EEE06D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AE1D3DB-7B49-EAC6-F0A8-F2F4B3B5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D95353-4A0F-D701-2D1B-110155FA84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CC8930A-BC1E-93CE-9756-FF136BE1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0F9CE49-95E4-D0BC-2008-4814F7F5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8276F1E-84B4-FDE8-5E4D-DF888F81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32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BF6F8-E003-8565-DE0F-7E1C19C76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252BBC1-ABB9-3F13-4FE3-4768E0139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5C2176-F36B-3CDE-47F6-1A46052F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C57428F-E292-DAB4-EAE3-0A4DDE457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9550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D702CD-398F-D1A7-60B2-45DBF1A39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0C1284B-AFEE-5610-D13E-000C50A43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0CF91F-D5DF-8370-DAB8-B60D98DD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4878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BF039-3E0D-D821-6BEA-149DA2053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12BBE9-3221-3D04-69D5-6E523C833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9C3704-D8AD-33D4-4843-43C7C180F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DE6A6D-9304-0E80-B94C-87B2456C3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2BF05F-2319-961F-9998-B8C4CD94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28001E-7C46-29D6-2966-8A4B952E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410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7AC16-AA56-6A35-702C-AE148E6C4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A9688F-9BFB-5864-5AD7-9641B69AB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987B87-37AA-4ABF-6EF8-40F410E00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B922F2-7E3D-6627-1D34-4DB90080A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FCCF44-0541-0931-AE97-91E778914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25F4F4-EF8B-48FB-781B-A9E14ED9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417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B4E3C-F09C-B1C9-93C7-68D7690D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237DFB-807C-02BC-F65D-835B91A09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483B78-38A6-EC53-255F-A2FA02BD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EBAF20-5B56-5DCE-CFDC-78850EEE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17561B-D846-3BED-F2F4-F15E4E28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2012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9EED443-25BF-454B-D229-6471B7FAF2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C471E4-F11B-2631-78D5-28D148E68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086B5A-A5CE-1770-4B2B-35472201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318E75-FC8A-4BC3-8123-8AF890BAF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338A3D-ED36-9366-CE2E-A349F366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518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6AD434B-4A2F-2718-90F2-4AB0AC008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A63323-E302-F2CD-2E2D-E3F81C3DD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6259D9-B985-0100-B5AC-4B7EE9A4D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CE8B9-0D64-4A09-987B-C95C7D3518C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12BF13-5449-822B-5A32-2DAE6D24E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36D764-E851-C94E-0DC7-C892944D8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E392A5-9D23-4726-AB5F-FB1A154172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6596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ov.br/saude/pt-br/assuntos/pcd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drive/1dN2PjqS9AaOxODwnwlkaclZfVnfs5XoQ#scrollTo=-HSgxS06x8kE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colab.research.google.com/drive/1C309HgnrJvy2qbz-orDNf-rBpmrckQIs#scrollTo=YQB_48cyujav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github.com/allanribeiro91/oncosus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colab.research.google.com/drive/1DGdPI1DVv_1XXBsAKF6yVmABE8FCy8O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m 138">
            <a:extLst>
              <a:ext uri="{FF2B5EF4-FFF2-40B4-BE49-F238E27FC236}">
                <a16:creationId xmlns:a16="http://schemas.microsoft.com/office/drawing/2014/main" id="{1DBB6825-F16E-B8AA-1BFB-97511B7267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3E834D6-164B-7E35-66FF-7F83F333B4FF}"/>
              </a:ext>
            </a:extLst>
          </p:cNvPr>
          <p:cNvSpPr txBox="1"/>
          <p:nvPr/>
        </p:nvSpPr>
        <p:spPr>
          <a:xfrm>
            <a:off x="3564697" y="1982450"/>
            <a:ext cx="50626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800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OncoSUS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4E7F63-A060-AC82-7D6D-0581F6E323E9}"/>
              </a:ext>
            </a:extLst>
          </p:cNvPr>
          <p:cNvSpPr txBox="1"/>
          <p:nvPr/>
        </p:nvSpPr>
        <p:spPr>
          <a:xfrm>
            <a:off x="2990711" y="3216812"/>
            <a:ext cx="6210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Assistente Inteligente de </a:t>
            </a:r>
          </a:p>
          <a:p>
            <a:pPr algn="ctr"/>
            <a:r>
              <a:rPr lang="pt-BR" sz="2800" dirty="0">
                <a:solidFill>
                  <a:schemeClr val="bg1"/>
                </a:solidFill>
              </a:rPr>
              <a:t>Protocolos Oncológicos do SUS</a:t>
            </a:r>
          </a:p>
        </p:txBody>
      </p:sp>
      <p:pic>
        <p:nvPicPr>
          <p:cNvPr id="1026" name="Picture 2" descr="FIAPP – Apps no Google Play">
            <a:extLst>
              <a:ext uri="{FF2B5EF4-FFF2-40B4-BE49-F238E27FC236}">
                <a16:creationId xmlns:a16="http://schemas.microsoft.com/office/drawing/2014/main" id="{D9A31B94-545E-B0C6-CDE8-8C96DD55A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9828" y="283302"/>
            <a:ext cx="707923" cy="70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27A02C0F-685E-1A16-9D31-FAD253619A0B}"/>
              </a:ext>
            </a:extLst>
          </p:cNvPr>
          <p:cNvSpPr txBox="1"/>
          <p:nvPr/>
        </p:nvSpPr>
        <p:spPr>
          <a:xfrm>
            <a:off x="8627302" y="283302"/>
            <a:ext cx="25284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000" b="1" dirty="0">
                <a:solidFill>
                  <a:schemeClr val="bg1"/>
                </a:solidFill>
              </a:rPr>
              <a:t>Pós em IA para </a:t>
            </a:r>
            <a:r>
              <a:rPr lang="pt-BR" sz="2000" b="1" dirty="0" err="1">
                <a:solidFill>
                  <a:schemeClr val="bg1"/>
                </a:solidFill>
              </a:rPr>
              <a:t>Devs</a:t>
            </a:r>
            <a:endParaRPr lang="pt-BR" sz="2000" b="1" dirty="0">
              <a:solidFill>
                <a:schemeClr val="bg1"/>
              </a:solidFill>
            </a:endParaRPr>
          </a:p>
          <a:p>
            <a:pPr algn="r"/>
            <a:r>
              <a:rPr lang="pt-BR" sz="2000" b="1" dirty="0">
                <a:solidFill>
                  <a:schemeClr val="bg1"/>
                </a:solidFill>
              </a:rPr>
              <a:t>7IADT – Fase 3</a:t>
            </a:r>
          </a:p>
        </p:txBody>
      </p:sp>
      <p:sp>
        <p:nvSpPr>
          <p:cNvPr id="142" name="Retângulo: Cantos Arredondados 141">
            <a:extLst>
              <a:ext uri="{FF2B5EF4-FFF2-40B4-BE49-F238E27FC236}">
                <a16:creationId xmlns:a16="http://schemas.microsoft.com/office/drawing/2014/main" id="{6001E351-8A55-8041-F4E4-06DE9167A3E8}"/>
              </a:ext>
            </a:extLst>
          </p:cNvPr>
          <p:cNvSpPr/>
          <p:nvPr/>
        </p:nvSpPr>
        <p:spPr>
          <a:xfrm>
            <a:off x="5112543" y="5405281"/>
            <a:ext cx="1966912" cy="4318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Março de 2026</a:t>
            </a:r>
          </a:p>
        </p:txBody>
      </p:sp>
    </p:spTree>
    <p:extLst>
      <p:ext uri="{BB962C8B-B14F-4D97-AF65-F5344CB8AC3E}">
        <p14:creationId xmlns:p14="http://schemas.microsoft.com/office/powerpoint/2010/main" val="446982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AEFF8FD1-E1C9-87FC-7E5D-F42F752BD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FIAPP – Apps no Google Play">
            <a:extLst>
              <a:ext uri="{FF2B5EF4-FFF2-40B4-BE49-F238E27FC236}">
                <a16:creationId xmlns:a16="http://schemas.microsoft.com/office/drawing/2014/main" id="{65B397FF-4F65-3E23-0761-2EA4E8AC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28" y="6146800"/>
            <a:ext cx="407025" cy="40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5A8C529-734B-5A21-F04E-AE8882EB62AF}"/>
              </a:ext>
            </a:extLst>
          </p:cNvPr>
          <p:cNvSpPr txBox="1"/>
          <p:nvPr/>
        </p:nvSpPr>
        <p:spPr>
          <a:xfrm>
            <a:off x="710253" y="6146800"/>
            <a:ext cx="14221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Pós em IA para </a:t>
            </a:r>
            <a:r>
              <a:rPr lang="pt-BR" sz="1100" dirty="0" err="1">
                <a:solidFill>
                  <a:schemeClr val="bg1"/>
                </a:solidFill>
              </a:rPr>
              <a:t>Devs</a:t>
            </a:r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7IADT – Fase 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402FF1-D68C-F0D2-EE78-3EB4982F12C5}"/>
              </a:ext>
            </a:extLst>
          </p:cNvPr>
          <p:cNvSpPr txBox="1"/>
          <p:nvPr/>
        </p:nvSpPr>
        <p:spPr>
          <a:xfrm>
            <a:off x="706343" y="789215"/>
            <a:ext cx="2178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OncoSUS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7F430DC-0647-4463-2BFD-CA710C2DB3C0}"/>
              </a:ext>
            </a:extLst>
          </p:cNvPr>
          <p:cNvSpPr txBox="1"/>
          <p:nvPr/>
        </p:nvSpPr>
        <p:spPr>
          <a:xfrm>
            <a:off x="710253" y="3251993"/>
            <a:ext cx="46987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Membros do grupo: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Allan Ribeiro – RM367988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Anderson Danilo G Costa – RM368340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Diego Cordeiro – RM 369026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Gustavo Paulino – RM369057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78E766B-0CD8-431A-4C84-2562B6F6879D}"/>
              </a:ext>
            </a:extLst>
          </p:cNvPr>
          <p:cNvSpPr txBox="1"/>
          <p:nvPr/>
        </p:nvSpPr>
        <p:spPr>
          <a:xfrm>
            <a:off x="706343" y="1731852"/>
            <a:ext cx="10439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Projeto desenvolvido no âmbito do curso de Pós-Graduação em IA para </a:t>
            </a:r>
            <a:r>
              <a:rPr lang="pt-BR" sz="2000" dirty="0" err="1">
                <a:solidFill>
                  <a:schemeClr val="bg1"/>
                </a:solidFill>
              </a:rPr>
              <a:t>Devs</a:t>
            </a:r>
            <a:r>
              <a:rPr lang="pt-BR" sz="2000" dirty="0">
                <a:solidFill>
                  <a:schemeClr val="bg1"/>
                </a:solidFill>
              </a:rPr>
              <a:t> da FIAP, como requisito para conclusão do Tech </a:t>
            </a:r>
            <a:r>
              <a:rPr lang="pt-BR" sz="2000" dirty="0" err="1">
                <a:solidFill>
                  <a:schemeClr val="bg1"/>
                </a:solidFill>
              </a:rPr>
              <a:t>Challenge</a:t>
            </a:r>
            <a:r>
              <a:rPr lang="pt-BR" sz="2000" dirty="0">
                <a:solidFill>
                  <a:schemeClr val="bg1"/>
                </a:solidFill>
              </a:rPr>
              <a:t> da Fase 3.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6D84900-051A-C43B-FBE7-08593BC069E8}"/>
              </a:ext>
            </a:extLst>
          </p:cNvPr>
          <p:cNvSpPr txBox="1"/>
          <p:nvPr/>
        </p:nvSpPr>
        <p:spPr>
          <a:xfrm>
            <a:off x="725393" y="1288929"/>
            <a:ext cx="6210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Assistente Inteligente de Protocolos Oncológicos do SUS</a:t>
            </a:r>
          </a:p>
        </p:txBody>
      </p:sp>
    </p:spTree>
    <p:extLst>
      <p:ext uri="{BB962C8B-B14F-4D97-AF65-F5344CB8AC3E}">
        <p14:creationId xmlns:p14="http://schemas.microsoft.com/office/powerpoint/2010/main" val="325614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5E9E005-1682-840B-953E-CBE7C3EE4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56525C9-DE4F-0631-44D7-9609564BDF8E}"/>
              </a:ext>
            </a:extLst>
          </p:cNvPr>
          <p:cNvSpPr txBox="1"/>
          <p:nvPr/>
        </p:nvSpPr>
        <p:spPr>
          <a:xfrm>
            <a:off x="2063598" y="1607858"/>
            <a:ext cx="177805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SUS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F3E710-33AA-1E3E-5EB4-F83F7D2C92DD}"/>
              </a:ext>
            </a:extLst>
          </p:cNvPr>
          <p:cNvSpPr txBox="1"/>
          <p:nvPr/>
        </p:nvSpPr>
        <p:spPr>
          <a:xfrm>
            <a:off x="303228" y="390142"/>
            <a:ext cx="660220" cy="461665"/>
          </a:xfrm>
          <a:prstGeom prst="rect">
            <a:avLst/>
          </a:prstGeom>
          <a:solidFill>
            <a:srgbClr val="ED145B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5607B62-D257-5A91-23F2-FA5C283CBD20}"/>
              </a:ext>
            </a:extLst>
          </p:cNvPr>
          <p:cNvSpPr txBox="1"/>
          <p:nvPr/>
        </p:nvSpPr>
        <p:spPr>
          <a:xfrm>
            <a:off x="963448" y="364742"/>
            <a:ext cx="1819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Contexto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510B8E-FFA6-B219-FB24-5FF421B1276F}"/>
              </a:ext>
            </a:extLst>
          </p:cNvPr>
          <p:cNvSpPr txBox="1"/>
          <p:nvPr/>
        </p:nvSpPr>
        <p:spPr>
          <a:xfrm>
            <a:off x="1573744" y="2495820"/>
            <a:ext cx="27577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Sistema Único de Saúde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662A339-76AD-A69A-CAF1-D918572E2EA4}"/>
              </a:ext>
            </a:extLst>
          </p:cNvPr>
          <p:cNvSpPr txBox="1"/>
          <p:nvPr/>
        </p:nvSpPr>
        <p:spPr>
          <a:xfrm>
            <a:off x="6497836" y="2018766"/>
            <a:ext cx="37758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Protocolos Clínicos e Diretrizes Terapêuticas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D4F60BBC-D762-6E1D-6CFF-B5A6AFC0B64E}"/>
              </a:ext>
            </a:extLst>
          </p:cNvPr>
          <p:cNvSpPr/>
          <p:nvPr/>
        </p:nvSpPr>
        <p:spPr>
          <a:xfrm>
            <a:off x="4699820" y="2178098"/>
            <a:ext cx="1308164" cy="590861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4314368-5313-80B4-7828-05E4F5A7B55F}"/>
              </a:ext>
            </a:extLst>
          </p:cNvPr>
          <p:cNvSpPr txBox="1"/>
          <p:nvPr/>
        </p:nvSpPr>
        <p:spPr>
          <a:xfrm>
            <a:off x="3841649" y="4436643"/>
            <a:ext cx="44155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23 protocolos para diferentes tipos de câncer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02527FB3-375C-4438-B680-186B54C3F306}"/>
              </a:ext>
            </a:extLst>
          </p:cNvPr>
          <p:cNvSpPr/>
          <p:nvPr/>
        </p:nvSpPr>
        <p:spPr>
          <a:xfrm rot="6730303">
            <a:off x="6062833" y="3454576"/>
            <a:ext cx="1271095" cy="444832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Picture 2" descr="FIAPP – Apps no Google Play">
            <a:extLst>
              <a:ext uri="{FF2B5EF4-FFF2-40B4-BE49-F238E27FC236}">
                <a16:creationId xmlns:a16="http://schemas.microsoft.com/office/drawing/2014/main" id="{1DE2D164-5A42-878E-281B-02AB96F5B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28" y="6146800"/>
            <a:ext cx="407025" cy="40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4FCDDB6-BA1E-E2E3-644A-A189BD0F7E93}"/>
              </a:ext>
            </a:extLst>
          </p:cNvPr>
          <p:cNvSpPr txBox="1"/>
          <p:nvPr/>
        </p:nvSpPr>
        <p:spPr>
          <a:xfrm>
            <a:off x="710253" y="6146800"/>
            <a:ext cx="14221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Pós em IA para </a:t>
            </a:r>
            <a:r>
              <a:rPr lang="pt-BR" sz="1100" dirty="0" err="1">
                <a:solidFill>
                  <a:schemeClr val="bg1"/>
                </a:solidFill>
              </a:rPr>
              <a:t>Devs</a:t>
            </a:r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7IADT – Fase 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6D7BE2C-9AA8-F79A-80E8-CFEF1AA96045}"/>
              </a:ext>
            </a:extLst>
          </p:cNvPr>
          <p:cNvSpPr txBox="1"/>
          <p:nvPr/>
        </p:nvSpPr>
        <p:spPr>
          <a:xfrm>
            <a:off x="7485805" y="2877920"/>
            <a:ext cx="1799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mais sobre PCDT</a:t>
            </a:r>
            <a:endParaRPr lang="pt-B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84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F55D-6496-FF50-FDC4-42AEA6C2F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E718ECC-35FA-6900-CE9A-02669079D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D137B03-667C-B398-A79D-149F2C17D172}"/>
              </a:ext>
            </a:extLst>
          </p:cNvPr>
          <p:cNvSpPr txBox="1"/>
          <p:nvPr/>
        </p:nvSpPr>
        <p:spPr>
          <a:xfrm>
            <a:off x="2971752" y="1784165"/>
            <a:ext cx="3009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chemeClr val="bg1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PCDT’s</a:t>
            </a:r>
            <a:r>
              <a:rPr lang="pt-BR" sz="2000" dirty="0">
                <a:solidFill>
                  <a:schemeClr val="bg1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 complexos e com diferentes formatos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B01588E-E007-4029-8E9B-A1B4E5413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995" y="1668727"/>
            <a:ext cx="489754" cy="48975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CA607B7-DDF8-A460-6204-C12320A71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064" y="1668727"/>
            <a:ext cx="489754" cy="48975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91FB7D8-D82D-BEF6-3AAB-C11835344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15" y="2158481"/>
            <a:ext cx="489754" cy="489754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11760D5A-EE1C-FF83-BE34-1CF4D23DD700}"/>
              </a:ext>
            </a:extLst>
          </p:cNvPr>
          <p:cNvSpPr txBox="1"/>
          <p:nvPr/>
        </p:nvSpPr>
        <p:spPr>
          <a:xfrm>
            <a:off x="2971752" y="3429000"/>
            <a:ext cx="30099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Profissionais que precisam acessar informações rápidas para orientar consultas e planejar ações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2D36D4FD-F810-1B42-9783-1569FF78EA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58" y="3584038"/>
            <a:ext cx="1321140" cy="1321140"/>
          </a:xfrm>
          <a:prstGeom prst="rect">
            <a:avLst/>
          </a:prstGeom>
        </p:spPr>
      </p:pic>
      <p:pic>
        <p:nvPicPr>
          <p:cNvPr id="18" name="Picture 2" descr="FIAPP – Apps no Google Play">
            <a:extLst>
              <a:ext uri="{FF2B5EF4-FFF2-40B4-BE49-F238E27FC236}">
                <a16:creationId xmlns:a16="http://schemas.microsoft.com/office/drawing/2014/main" id="{C8A844D8-0E7B-6447-FB32-98B06B804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28" y="6146800"/>
            <a:ext cx="407025" cy="40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E3BCF2F-94AB-C016-91E0-FE6BD74AD1BD}"/>
              </a:ext>
            </a:extLst>
          </p:cNvPr>
          <p:cNvSpPr txBox="1"/>
          <p:nvPr/>
        </p:nvSpPr>
        <p:spPr>
          <a:xfrm>
            <a:off x="710253" y="6146800"/>
            <a:ext cx="14221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Pós em IA para </a:t>
            </a:r>
            <a:r>
              <a:rPr lang="pt-BR" sz="1100" dirty="0" err="1">
                <a:solidFill>
                  <a:schemeClr val="bg1"/>
                </a:solidFill>
              </a:rPr>
              <a:t>Devs</a:t>
            </a:r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7IADT – Fase 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EDAD061-D953-5CC2-0043-6739F45A890E}"/>
              </a:ext>
            </a:extLst>
          </p:cNvPr>
          <p:cNvSpPr txBox="1"/>
          <p:nvPr/>
        </p:nvSpPr>
        <p:spPr>
          <a:xfrm>
            <a:off x="303228" y="390142"/>
            <a:ext cx="660220" cy="461665"/>
          </a:xfrm>
          <a:prstGeom prst="rect">
            <a:avLst/>
          </a:prstGeom>
          <a:solidFill>
            <a:srgbClr val="ED145B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653D640-855D-6CD7-8FB8-41D6D8766E07}"/>
              </a:ext>
            </a:extLst>
          </p:cNvPr>
          <p:cNvSpPr txBox="1"/>
          <p:nvPr/>
        </p:nvSpPr>
        <p:spPr>
          <a:xfrm>
            <a:off x="963448" y="364742"/>
            <a:ext cx="498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Problema e Solução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72950FB-9FB4-98F2-501A-2CFEF8254B23}"/>
              </a:ext>
            </a:extLst>
          </p:cNvPr>
          <p:cNvSpPr txBox="1"/>
          <p:nvPr/>
        </p:nvSpPr>
        <p:spPr>
          <a:xfrm>
            <a:off x="7565345" y="2257179"/>
            <a:ext cx="36454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Assistente inteligente capaz de responder perguntas relacionadas a tratamentos oncológicos com base em documentos oficiais do SUS.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5B07E99-6C5C-AC77-09FA-0FC3E705D26C}"/>
              </a:ext>
            </a:extLst>
          </p:cNvPr>
          <p:cNvSpPr txBox="1"/>
          <p:nvPr/>
        </p:nvSpPr>
        <p:spPr>
          <a:xfrm>
            <a:off x="7565345" y="1535170"/>
            <a:ext cx="2624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OncoSUS</a:t>
            </a:r>
          </a:p>
        </p:txBody>
      </p:sp>
      <p:sp>
        <p:nvSpPr>
          <p:cNvPr id="24" name="Chave Direita 23">
            <a:extLst>
              <a:ext uri="{FF2B5EF4-FFF2-40B4-BE49-F238E27FC236}">
                <a16:creationId xmlns:a16="http://schemas.microsoft.com/office/drawing/2014/main" id="{B848C5FA-8B66-E9BD-1E24-B920978DE0AC}"/>
              </a:ext>
            </a:extLst>
          </p:cNvPr>
          <p:cNvSpPr/>
          <p:nvPr/>
        </p:nvSpPr>
        <p:spPr>
          <a:xfrm>
            <a:off x="6249455" y="1535170"/>
            <a:ext cx="799047" cy="3748030"/>
          </a:xfrm>
          <a:prstGeom prst="rightBrace">
            <a:avLst>
              <a:gd name="adj1" fmla="val 8333"/>
              <a:gd name="adj2" fmla="val 5065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46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4228-4689-466E-C4D0-76C0479ED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EA6DA41-9D80-6B55-AABF-07D67B169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2" descr="FIAPP – Apps no Google Play">
            <a:extLst>
              <a:ext uri="{FF2B5EF4-FFF2-40B4-BE49-F238E27FC236}">
                <a16:creationId xmlns:a16="http://schemas.microsoft.com/office/drawing/2014/main" id="{5648C1D7-5672-80C5-484E-FE61AA351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28" y="6146800"/>
            <a:ext cx="407025" cy="40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A436399F-091C-5684-B0C7-2D03D484CEE9}"/>
              </a:ext>
            </a:extLst>
          </p:cNvPr>
          <p:cNvSpPr txBox="1"/>
          <p:nvPr/>
        </p:nvSpPr>
        <p:spPr>
          <a:xfrm>
            <a:off x="710253" y="6146800"/>
            <a:ext cx="14221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Pós em IA para </a:t>
            </a:r>
            <a:r>
              <a:rPr lang="pt-BR" sz="1100" dirty="0" err="1">
                <a:solidFill>
                  <a:schemeClr val="bg1"/>
                </a:solidFill>
              </a:rPr>
              <a:t>Devs</a:t>
            </a:r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7IADT – Fase 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3F61036-1554-AD92-504B-250C923FF708}"/>
              </a:ext>
            </a:extLst>
          </p:cNvPr>
          <p:cNvSpPr txBox="1"/>
          <p:nvPr/>
        </p:nvSpPr>
        <p:spPr>
          <a:xfrm>
            <a:off x="303228" y="390142"/>
            <a:ext cx="660220" cy="461665"/>
          </a:xfrm>
          <a:prstGeom prst="rect">
            <a:avLst/>
          </a:prstGeom>
          <a:solidFill>
            <a:srgbClr val="ED145B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976DAE5-EC81-6E3C-F562-1A2CAAA163D9}"/>
              </a:ext>
            </a:extLst>
          </p:cNvPr>
          <p:cNvSpPr txBox="1"/>
          <p:nvPr/>
        </p:nvSpPr>
        <p:spPr>
          <a:xfrm>
            <a:off x="963448" y="364742"/>
            <a:ext cx="498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Protótipo criado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66363711-FE21-E2EB-799B-029374E8779A}"/>
              </a:ext>
            </a:extLst>
          </p:cNvPr>
          <p:cNvSpPr/>
          <p:nvPr/>
        </p:nvSpPr>
        <p:spPr>
          <a:xfrm>
            <a:off x="1806156" y="1443715"/>
            <a:ext cx="2745375" cy="3516086"/>
          </a:xfrm>
          <a:prstGeom prst="roundRect">
            <a:avLst>
              <a:gd name="adj" fmla="val 3735"/>
            </a:avLst>
          </a:prstGeom>
          <a:solidFill>
            <a:srgbClr val="FCDCE7">
              <a:alpha val="10196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Usuário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1C0C776-29EC-0DA6-A42A-9743CFFE3018}"/>
              </a:ext>
            </a:extLst>
          </p:cNvPr>
          <p:cNvSpPr/>
          <p:nvPr/>
        </p:nvSpPr>
        <p:spPr>
          <a:xfrm>
            <a:off x="2255190" y="2271030"/>
            <a:ext cx="1847305" cy="849085"/>
          </a:xfrm>
          <a:prstGeom prst="roundRect">
            <a:avLst>
              <a:gd name="adj" fmla="val 57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ED145B"/>
                </a:solidFill>
              </a:rPr>
              <a:t>Faz a</a:t>
            </a:r>
          </a:p>
          <a:p>
            <a:pPr algn="ctr"/>
            <a:r>
              <a:rPr lang="pt-BR" b="1" dirty="0">
                <a:solidFill>
                  <a:srgbClr val="ED145B"/>
                </a:solidFill>
              </a:rPr>
              <a:t>pergunta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AD99050B-0993-2A9B-4E79-AB2391A33FB8}"/>
              </a:ext>
            </a:extLst>
          </p:cNvPr>
          <p:cNvSpPr/>
          <p:nvPr/>
        </p:nvSpPr>
        <p:spPr>
          <a:xfrm>
            <a:off x="4986958" y="1443715"/>
            <a:ext cx="5845631" cy="3516086"/>
          </a:xfrm>
          <a:prstGeom prst="roundRect">
            <a:avLst>
              <a:gd name="adj" fmla="val 2770"/>
            </a:avLst>
          </a:prstGeom>
          <a:solidFill>
            <a:srgbClr val="FCDCE7">
              <a:alpha val="10196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OncoSUS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0D3A331B-A29E-6FEB-E3F1-A49AFB7F549B}"/>
              </a:ext>
            </a:extLst>
          </p:cNvPr>
          <p:cNvSpPr/>
          <p:nvPr/>
        </p:nvSpPr>
        <p:spPr>
          <a:xfrm>
            <a:off x="5436542" y="2271029"/>
            <a:ext cx="2184762" cy="849086"/>
          </a:xfrm>
          <a:prstGeom prst="roundRect">
            <a:avLst>
              <a:gd name="adj" fmla="val 57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err="1">
                <a:solidFill>
                  <a:srgbClr val="ED145B"/>
                </a:solidFill>
              </a:rPr>
              <a:t>LangChain</a:t>
            </a:r>
            <a:r>
              <a:rPr lang="pt-BR" sz="1600" b="1" dirty="0">
                <a:solidFill>
                  <a:srgbClr val="ED145B"/>
                </a:solidFill>
              </a:rPr>
              <a:t> </a:t>
            </a:r>
            <a:r>
              <a:rPr lang="pt-BR" sz="1600" b="1" dirty="0" err="1">
                <a:solidFill>
                  <a:srgbClr val="ED145B"/>
                </a:solidFill>
              </a:rPr>
              <a:t>Router</a:t>
            </a:r>
            <a:endParaRPr lang="pt-BR" sz="1600" b="1" dirty="0">
              <a:solidFill>
                <a:srgbClr val="ED145B"/>
              </a:solidFill>
            </a:endParaRPr>
          </a:p>
          <a:p>
            <a:pPr algn="ctr"/>
            <a:r>
              <a:rPr lang="pt-BR" sz="1200" dirty="0">
                <a:solidFill>
                  <a:srgbClr val="ED145B"/>
                </a:solidFill>
              </a:rPr>
              <a:t>(classifica o tipo de câncer)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6A142D90-7307-E7F6-D38B-B9DD258FEB89}"/>
              </a:ext>
            </a:extLst>
          </p:cNvPr>
          <p:cNvSpPr/>
          <p:nvPr/>
        </p:nvSpPr>
        <p:spPr>
          <a:xfrm>
            <a:off x="8263289" y="2271029"/>
            <a:ext cx="2184762" cy="849086"/>
          </a:xfrm>
          <a:prstGeom prst="roundRect">
            <a:avLst>
              <a:gd name="adj" fmla="val 57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err="1">
                <a:solidFill>
                  <a:srgbClr val="ED145B"/>
                </a:solidFill>
              </a:rPr>
              <a:t>Retriever</a:t>
            </a:r>
            <a:r>
              <a:rPr lang="pt-BR" sz="1600" b="1" dirty="0">
                <a:solidFill>
                  <a:srgbClr val="ED145B"/>
                </a:solidFill>
              </a:rPr>
              <a:t> (RAG)</a:t>
            </a:r>
          </a:p>
          <a:p>
            <a:pPr algn="ctr"/>
            <a:r>
              <a:rPr lang="pt-BR" sz="1200" dirty="0">
                <a:solidFill>
                  <a:srgbClr val="ED145B"/>
                </a:solidFill>
              </a:rPr>
              <a:t>(busca o protocolo clínico)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5C02F8AC-0568-D67D-3810-0B863650742A}"/>
              </a:ext>
            </a:extLst>
          </p:cNvPr>
          <p:cNvSpPr/>
          <p:nvPr/>
        </p:nvSpPr>
        <p:spPr>
          <a:xfrm>
            <a:off x="8263288" y="3522886"/>
            <a:ext cx="2184761" cy="849086"/>
          </a:xfrm>
          <a:prstGeom prst="roundRect">
            <a:avLst>
              <a:gd name="adj" fmla="val 57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rgbClr val="ED145B"/>
                </a:solidFill>
              </a:rPr>
              <a:t>Contexto do protocolo</a:t>
            </a:r>
            <a:endParaRPr lang="pt-BR" sz="1200" dirty="0">
              <a:solidFill>
                <a:srgbClr val="ED145B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E83C63FE-62FF-6223-12EB-B7ADE591FFAC}"/>
              </a:ext>
            </a:extLst>
          </p:cNvPr>
          <p:cNvSpPr/>
          <p:nvPr/>
        </p:nvSpPr>
        <p:spPr>
          <a:xfrm>
            <a:off x="5431099" y="3522886"/>
            <a:ext cx="2184762" cy="849086"/>
          </a:xfrm>
          <a:prstGeom prst="roundRect">
            <a:avLst>
              <a:gd name="adj" fmla="val 57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rgbClr val="ED145B"/>
                </a:solidFill>
              </a:rPr>
              <a:t>LLM Fine-</a:t>
            </a:r>
            <a:r>
              <a:rPr lang="pt-BR" sz="1600" b="1" dirty="0" err="1">
                <a:solidFill>
                  <a:srgbClr val="ED145B"/>
                </a:solidFill>
              </a:rPr>
              <a:t>Tuned</a:t>
            </a:r>
            <a:endParaRPr lang="pt-BR" sz="1600" b="1" dirty="0">
              <a:solidFill>
                <a:srgbClr val="ED145B"/>
              </a:solidFill>
            </a:endParaRPr>
          </a:p>
          <a:p>
            <a:pPr algn="ctr"/>
            <a:r>
              <a:rPr lang="pt-BR" sz="1200" dirty="0">
                <a:solidFill>
                  <a:srgbClr val="ED145B"/>
                </a:solidFill>
              </a:rPr>
              <a:t>(gera resposta no formato padrão)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4E1E4C98-E22F-8F58-4387-D5A11930F745}"/>
              </a:ext>
            </a:extLst>
          </p:cNvPr>
          <p:cNvSpPr/>
          <p:nvPr/>
        </p:nvSpPr>
        <p:spPr>
          <a:xfrm>
            <a:off x="2255189" y="3522886"/>
            <a:ext cx="1847305" cy="849085"/>
          </a:xfrm>
          <a:prstGeom prst="roundRect">
            <a:avLst>
              <a:gd name="adj" fmla="val 57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ED145B"/>
                </a:solidFill>
              </a:rPr>
              <a:t>Recebe a</a:t>
            </a:r>
          </a:p>
          <a:p>
            <a:pPr algn="ctr"/>
            <a:r>
              <a:rPr lang="pt-BR" b="1" dirty="0">
                <a:solidFill>
                  <a:srgbClr val="ED145B"/>
                </a:solidFill>
              </a:rPr>
              <a:t>resposta</a:t>
            </a:r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BFECE3F8-D336-6A46-9096-E2241982B503}"/>
              </a:ext>
            </a:extLst>
          </p:cNvPr>
          <p:cNvCxnSpPr>
            <a:cxnSpLocks/>
            <a:stCxn id="31" idx="1"/>
            <a:endCxn id="32" idx="3"/>
          </p:cNvCxnSpPr>
          <p:nvPr/>
        </p:nvCxnSpPr>
        <p:spPr>
          <a:xfrm flipH="1">
            <a:off x="4102494" y="3947429"/>
            <a:ext cx="1328605" cy="0"/>
          </a:xfrm>
          <a:prstGeom prst="straightConnector1">
            <a:avLst/>
          </a:prstGeom>
          <a:ln w="76200"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68750973-25B0-D38C-06E1-0F416B6712EC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 flipV="1">
            <a:off x="4102495" y="2695572"/>
            <a:ext cx="1334047" cy="1"/>
          </a:xfrm>
          <a:prstGeom prst="straightConnector1">
            <a:avLst/>
          </a:prstGeom>
          <a:ln w="76200"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7B6234B1-AAC1-3957-A80B-AEC43E1B72E0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7621304" y="2695572"/>
            <a:ext cx="641985" cy="0"/>
          </a:xfrm>
          <a:prstGeom prst="straightConnector1">
            <a:avLst/>
          </a:prstGeom>
          <a:ln w="38100"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CCC74596-9781-E614-545A-D912ED1FF73A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9355669" y="3120115"/>
            <a:ext cx="1" cy="402771"/>
          </a:xfrm>
          <a:prstGeom prst="straightConnector1">
            <a:avLst/>
          </a:prstGeom>
          <a:ln w="38100"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ABC3E4E9-9AF7-578D-7005-DF2C3735160F}"/>
              </a:ext>
            </a:extLst>
          </p:cNvPr>
          <p:cNvCxnSpPr>
            <a:cxnSpLocks/>
            <a:stCxn id="30" idx="1"/>
            <a:endCxn id="31" idx="3"/>
          </p:cNvCxnSpPr>
          <p:nvPr/>
        </p:nvCxnSpPr>
        <p:spPr>
          <a:xfrm flipH="1">
            <a:off x="7615861" y="3947429"/>
            <a:ext cx="647427" cy="0"/>
          </a:xfrm>
          <a:prstGeom prst="straightConnector1">
            <a:avLst/>
          </a:prstGeom>
          <a:ln w="38100"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72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058E-5BFD-F1E0-439F-812F82B23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9BD368A-B899-5F23-EE03-8A875455E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2" descr="FIAPP – Apps no Google Play">
            <a:extLst>
              <a:ext uri="{FF2B5EF4-FFF2-40B4-BE49-F238E27FC236}">
                <a16:creationId xmlns:a16="http://schemas.microsoft.com/office/drawing/2014/main" id="{E86B8059-BE21-C5DA-41E8-3AD4196BD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28" y="6146800"/>
            <a:ext cx="407025" cy="40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CC3FA058-9DBA-4CE9-3858-67635C366E4E}"/>
              </a:ext>
            </a:extLst>
          </p:cNvPr>
          <p:cNvSpPr txBox="1"/>
          <p:nvPr/>
        </p:nvSpPr>
        <p:spPr>
          <a:xfrm>
            <a:off x="710253" y="6146800"/>
            <a:ext cx="14221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Pós em IA para </a:t>
            </a:r>
            <a:r>
              <a:rPr lang="pt-BR" sz="1100" dirty="0" err="1">
                <a:solidFill>
                  <a:schemeClr val="bg1"/>
                </a:solidFill>
              </a:rPr>
              <a:t>Devs</a:t>
            </a:r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7IADT – Fase 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958DDFC-2673-912E-5B63-8B52FE914424}"/>
              </a:ext>
            </a:extLst>
          </p:cNvPr>
          <p:cNvSpPr txBox="1"/>
          <p:nvPr/>
        </p:nvSpPr>
        <p:spPr>
          <a:xfrm>
            <a:off x="303228" y="390142"/>
            <a:ext cx="660220" cy="461665"/>
          </a:xfrm>
          <a:prstGeom prst="rect">
            <a:avLst/>
          </a:prstGeom>
          <a:solidFill>
            <a:srgbClr val="ED145B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4724083-2328-1CF2-8676-CF930AC9FA10}"/>
              </a:ext>
            </a:extLst>
          </p:cNvPr>
          <p:cNvSpPr txBox="1"/>
          <p:nvPr/>
        </p:nvSpPr>
        <p:spPr>
          <a:xfrm>
            <a:off x="963448" y="364742"/>
            <a:ext cx="498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Como foi feito?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0B981D5-3A58-A77F-54E9-9C633824DA75}"/>
              </a:ext>
            </a:extLst>
          </p:cNvPr>
          <p:cNvSpPr/>
          <p:nvPr/>
        </p:nvSpPr>
        <p:spPr>
          <a:xfrm>
            <a:off x="1724025" y="1732556"/>
            <a:ext cx="2476500" cy="1440000"/>
          </a:xfrm>
          <a:prstGeom prst="roundRect">
            <a:avLst>
              <a:gd name="adj" fmla="val 97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1. Separação dos </a:t>
            </a:r>
            <a:r>
              <a:rPr lang="pt-BR" b="1" dirty="0" err="1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PCDTs</a:t>
            </a:r>
            <a:endParaRPr lang="pt-BR" b="1" dirty="0">
              <a:solidFill>
                <a:srgbClr val="ED145B"/>
              </a:solidFill>
              <a:ea typeface="Calibri" panose="020F0502020204030204" pitchFamily="34" charset="0"/>
              <a:cs typeface="Cascadia Code ExtraLight" panose="020B0609020000020004" pitchFamily="49" charset="0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57ED40C-3F73-64E6-4D9A-6327F7264BC7}"/>
              </a:ext>
            </a:extLst>
          </p:cNvPr>
          <p:cNvSpPr/>
          <p:nvPr/>
        </p:nvSpPr>
        <p:spPr>
          <a:xfrm>
            <a:off x="4912402" y="1732556"/>
            <a:ext cx="2476500" cy="1440000"/>
          </a:xfrm>
          <a:prstGeom prst="roundRect">
            <a:avLst>
              <a:gd name="adj" fmla="val 97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2. Normalização e semântica dos </a:t>
            </a:r>
            <a:r>
              <a:rPr lang="pt-BR" b="1" dirty="0" err="1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PCDTs</a:t>
            </a:r>
            <a:endParaRPr lang="pt-BR" b="1" dirty="0">
              <a:solidFill>
                <a:srgbClr val="ED145B"/>
              </a:solidFill>
              <a:ea typeface="Calibri" panose="020F0502020204030204" pitchFamily="34" charset="0"/>
              <a:cs typeface="Cascadia Code ExtraLight" panose="020B0609020000020004" pitchFamily="49" charset="0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42DB3392-1D60-DC13-7564-EAD16D4F42DE}"/>
              </a:ext>
            </a:extLst>
          </p:cNvPr>
          <p:cNvSpPr/>
          <p:nvPr/>
        </p:nvSpPr>
        <p:spPr>
          <a:xfrm>
            <a:off x="8100779" y="1732556"/>
            <a:ext cx="2476500" cy="1440000"/>
          </a:xfrm>
          <a:prstGeom prst="roundRect">
            <a:avLst>
              <a:gd name="adj" fmla="val 97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3. Criação da base vetorial de </a:t>
            </a:r>
            <a:r>
              <a:rPr lang="pt-BR" b="1" dirty="0" err="1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PCDTs</a:t>
            </a:r>
            <a:endParaRPr lang="pt-BR" b="1" dirty="0">
              <a:solidFill>
                <a:srgbClr val="ED145B"/>
              </a:solidFill>
              <a:ea typeface="Calibri" panose="020F0502020204030204" pitchFamily="34" charset="0"/>
              <a:cs typeface="Cascadia Code ExtraLight" panose="020B0609020000020004" pitchFamily="49" charset="0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BCCDA2D-4028-73CF-6160-226AF2A4AE25}"/>
              </a:ext>
            </a:extLst>
          </p:cNvPr>
          <p:cNvSpPr/>
          <p:nvPr/>
        </p:nvSpPr>
        <p:spPr>
          <a:xfrm>
            <a:off x="7029063" y="3760019"/>
            <a:ext cx="2476500" cy="1440000"/>
          </a:xfrm>
          <a:prstGeom prst="roundRect">
            <a:avLst>
              <a:gd name="adj" fmla="val 97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4. Criação </a:t>
            </a:r>
          </a:p>
          <a:p>
            <a:pPr algn="ctr"/>
            <a:r>
              <a:rPr lang="pt-BR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do RAG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DEBE33DC-8A3E-DC6A-D8AC-8FB73D37183D}"/>
              </a:ext>
            </a:extLst>
          </p:cNvPr>
          <p:cNvSpPr/>
          <p:nvPr/>
        </p:nvSpPr>
        <p:spPr>
          <a:xfrm>
            <a:off x="3211421" y="3740355"/>
            <a:ext cx="2476500" cy="1440000"/>
          </a:xfrm>
          <a:prstGeom prst="roundRect">
            <a:avLst>
              <a:gd name="adj" fmla="val 97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5. Integração com dados sintéticos de pacientes</a:t>
            </a:r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AA59AD60-2339-FD48-576E-7ED0CF2074E9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4200525" y="2452556"/>
            <a:ext cx="711877" cy="0"/>
          </a:xfrm>
          <a:prstGeom prst="straightConnector1">
            <a:avLst/>
          </a:prstGeom>
          <a:ln w="38100"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0A833634-C62F-FE03-FE5E-2C20E235A345}"/>
              </a:ext>
            </a:extLst>
          </p:cNvPr>
          <p:cNvCxnSpPr>
            <a:cxnSpLocks/>
            <a:stCxn id="16" idx="3"/>
            <a:endCxn id="25" idx="1"/>
          </p:cNvCxnSpPr>
          <p:nvPr/>
        </p:nvCxnSpPr>
        <p:spPr>
          <a:xfrm>
            <a:off x="7388902" y="2452556"/>
            <a:ext cx="711877" cy="0"/>
          </a:xfrm>
          <a:prstGeom prst="straightConnector1">
            <a:avLst/>
          </a:prstGeom>
          <a:ln w="38100"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58C90801-F064-9644-7E07-75F656DDBFE7}"/>
              </a:ext>
            </a:extLst>
          </p:cNvPr>
          <p:cNvCxnSpPr>
            <a:cxnSpLocks/>
            <a:stCxn id="26" idx="1"/>
            <a:endCxn id="27" idx="3"/>
          </p:cNvCxnSpPr>
          <p:nvPr/>
        </p:nvCxnSpPr>
        <p:spPr>
          <a:xfrm flipH="1" flipV="1">
            <a:off x="5687921" y="4460355"/>
            <a:ext cx="1341142" cy="19664"/>
          </a:xfrm>
          <a:prstGeom prst="straightConnector1">
            <a:avLst/>
          </a:prstGeom>
          <a:ln w="38100"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DCDD88FE-D4A2-6BB5-13A6-65522D243DEC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rot="5400000">
            <a:off x="8509440" y="2930429"/>
            <a:ext cx="587463" cy="1071716"/>
          </a:xfrm>
          <a:prstGeom prst="bentConnector3">
            <a:avLst>
              <a:gd name="adj1" fmla="val 50000"/>
            </a:avLst>
          </a:prstGeom>
          <a:ln w="38100"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482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79BC6-880C-5ED5-A889-1C0C1D28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FF351B0-DB78-253E-4126-DB962A1DF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2" descr="FIAPP – Apps no Google Play">
            <a:extLst>
              <a:ext uri="{FF2B5EF4-FFF2-40B4-BE49-F238E27FC236}">
                <a16:creationId xmlns:a16="http://schemas.microsoft.com/office/drawing/2014/main" id="{21A92C17-FB78-2969-E24E-50BBAB9B8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28" y="6146800"/>
            <a:ext cx="407025" cy="40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9F8156DE-EFEB-A37A-5F3B-D84A778D70F7}"/>
              </a:ext>
            </a:extLst>
          </p:cNvPr>
          <p:cNvSpPr txBox="1"/>
          <p:nvPr/>
        </p:nvSpPr>
        <p:spPr>
          <a:xfrm>
            <a:off x="710253" y="6146800"/>
            <a:ext cx="14221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Pós em IA para </a:t>
            </a:r>
            <a:r>
              <a:rPr lang="pt-BR" sz="1100" dirty="0" err="1">
                <a:solidFill>
                  <a:schemeClr val="bg1"/>
                </a:solidFill>
              </a:rPr>
              <a:t>Devs</a:t>
            </a:r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7IADT – Fase 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D738FC5-1DEF-9BB5-62ED-8F5D16AE2084}"/>
              </a:ext>
            </a:extLst>
          </p:cNvPr>
          <p:cNvSpPr txBox="1"/>
          <p:nvPr/>
        </p:nvSpPr>
        <p:spPr>
          <a:xfrm>
            <a:off x="303228" y="390142"/>
            <a:ext cx="660220" cy="461665"/>
          </a:xfrm>
          <a:prstGeom prst="rect">
            <a:avLst/>
          </a:prstGeom>
          <a:solidFill>
            <a:srgbClr val="ED145B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49C8425-FDFB-FB5F-9C2A-318538892BAC}"/>
              </a:ext>
            </a:extLst>
          </p:cNvPr>
          <p:cNvSpPr txBox="1"/>
          <p:nvPr/>
        </p:nvSpPr>
        <p:spPr>
          <a:xfrm>
            <a:off x="963448" y="364742"/>
            <a:ext cx="6715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ED145B"/>
                </a:solidFill>
                <a:ea typeface="Calibri" panose="020F0502020204030204" pitchFamily="34" charset="0"/>
                <a:cs typeface="Cascadia Code ExtraLight" panose="020B0609020000020004" pitchFamily="49" charset="0"/>
              </a:rPr>
              <a:t>Repositórios e scripts no Google Colab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F767F37-A25E-EEC0-6B2E-1505BC1103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29" y="1414157"/>
            <a:ext cx="759035" cy="75903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D0878F3-1A18-229F-7226-F1AEEF6FF12B}"/>
              </a:ext>
            </a:extLst>
          </p:cNvPr>
          <p:cNvSpPr txBox="1"/>
          <p:nvPr/>
        </p:nvSpPr>
        <p:spPr>
          <a:xfrm>
            <a:off x="2198113" y="1771029"/>
            <a:ext cx="4532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https://github.com/allanribeiro91/oncosus</a:t>
            </a:r>
            <a:endParaRPr lang="pt-BR" sz="1400" dirty="0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A7BCBB2-60FB-48B7-A668-F98FF5BE3D76}"/>
              </a:ext>
            </a:extLst>
          </p:cNvPr>
          <p:cNvSpPr txBox="1"/>
          <p:nvPr/>
        </p:nvSpPr>
        <p:spPr>
          <a:xfrm>
            <a:off x="2198114" y="1501676"/>
            <a:ext cx="4532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Repositório no GitHub</a:t>
            </a:r>
          </a:p>
        </p:txBody>
      </p:sp>
      <p:pic>
        <p:nvPicPr>
          <p:cNvPr id="1030" name="Picture 6" descr="Google Colab - Wikipedia">
            <a:extLst>
              <a:ext uri="{FF2B5EF4-FFF2-40B4-BE49-F238E27FC236}">
                <a16:creationId xmlns:a16="http://schemas.microsoft.com/office/drawing/2014/main" id="{232497C8-95D1-AAEA-1C43-E77A24B2F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764" y="2865942"/>
            <a:ext cx="927800" cy="53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2ECCE7C-697B-0EE9-39ED-DF7163F8A650}"/>
              </a:ext>
            </a:extLst>
          </p:cNvPr>
          <p:cNvSpPr txBox="1"/>
          <p:nvPr/>
        </p:nvSpPr>
        <p:spPr>
          <a:xfrm>
            <a:off x="2198112" y="4975068"/>
            <a:ext cx="8211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https://colab.research.google.com/drive/1C309HgnrJvy2qbz-orDNf-rBpmrckQIs#scrollTo=YQB_48cyujav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7ED5148-E4F1-995B-7CB8-8188EC552C81}"/>
              </a:ext>
            </a:extLst>
          </p:cNvPr>
          <p:cNvSpPr txBox="1"/>
          <p:nvPr/>
        </p:nvSpPr>
        <p:spPr>
          <a:xfrm>
            <a:off x="2198113" y="4639074"/>
            <a:ext cx="4532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Fine-</a:t>
            </a:r>
            <a:r>
              <a:rPr lang="pt-BR" sz="2000" b="1" dirty="0" err="1">
                <a:solidFill>
                  <a:schemeClr val="bg1"/>
                </a:solidFill>
              </a:rPr>
              <a:t>tuning</a:t>
            </a:r>
            <a:endParaRPr lang="pt-BR" sz="2000" b="1" dirty="0">
              <a:solidFill>
                <a:schemeClr val="bg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E3C8A85-30F7-17B6-76A4-A74415F242EF}"/>
              </a:ext>
            </a:extLst>
          </p:cNvPr>
          <p:cNvSpPr txBox="1"/>
          <p:nvPr/>
        </p:nvSpPr>
        <p:spPr>
          <a:xfrm>
            <a:off x="2880853" y="3131379"/>
            <a:ext cx="7777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chemeClr val="bg1"/>
                </a:solidFill>
              </a:rPr>
              <a:t>Gerar perguntas e respostas</a:t>
            </a:r>
            <a:endParaRPr lang="pt-BR" sz="1200" i="1" dirty="0">
              <a:solidFill>
                <a:schemeClr val="bg1"/>
              </a:solidFill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pt-BR" sz="1600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https://colab.research.google.com/drive/1dN2PjqS9AaOxODwnwlkaclZfVnfs5XoQ#scrollTo=-HSgxS06x8kE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143E158-962B-DE56-1AE6-30EA32004C06}"/>
              </a:ext>
            </a:extLst>
          </p:cNvPr>
          <p:cNvSpPr txBox="1"/>
          <p:nvPr/>
        </p:nvSpPr>
        <p:spPr>
          <a:xfrm>
            <a:off x="2198113" y="2795385"/>
            <a:ext cx="4781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Teste RAG com ChatGPT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B3DBDF2-0882-426B-C999-8C9A0A477C24}"/>
              </a:ext>
            </a:extLst>
          </p:cNvPr>
          <p:cNvSpPr txBox="1"/>
          <p:nvPr/>
        </p:nvSpPr>
        <p:spPr>
          <a:xfrm>
            <a:off x="2880852" y="3937502"/>
            <a:ext cx="7777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chemeClr val="bg1"/>
                </a:solidFill>
              </a:rPr>
              <a:t>Avaliar as respostas</a:t>
            </a:r>
          </a:p>
          <a:p>
            <a:r>
              <a:rPr lang="pt-BR" sz="1600" dirty="0">
                <a:solidFill>
                  <a:schemeClr val="bg1"/>
                </a:solidFill>
                <a:hlinkClick r:id="rId9"/>
              </a:rPr>
              <a:t>https://colab.research.google.com/drive/1DGdPI1DVv_1XXBsAKF6yVmABE8FCy8O7</a:t>
            </a:r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813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358</Words>
  <Application>Microsoft Office PowerPoint</Application>
  <PresentationFormat>Widescreen</PresentationFormat>
  <Paragraphs>74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Kássio de Oliveira Santos Ribeiro</dc:creator>
  <cp:lastModifiedBy>Allan Kássio de Oliveira Santos Ribeiro</cp:lastModifiedBy>
  <cp:revision>7</cp:revision>
  <dcterms:created xsi:type="dcterms:W3CDTF">2026-03-22T15:39:39Z</dcterms:created>
  <dcterms:modified xsi:type="dcterms:W3CDTF">2026-03-22T22:05:48Z</dcterms:modified>
</cp:coreProperties>
</file>